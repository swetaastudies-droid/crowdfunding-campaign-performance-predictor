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CROWDFUNDING CAMPAIGN PERFORMANCE PREDICTOR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AI-powered crowdfunding readiness and decision-support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Case Campaign: EcoSip — “Sip Smart. Live Sustainable.”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103120"/>
            <a:ext cx="6309360" cy="20116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PREDICT  •  ANALYSE  •  IMPROVE  • 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Why the platform was developed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Crowdfunding can help startups raise funds, validate product ideas and build an early customer community.</a:t>
            </a:r>
          </a:p>
          <a:p>
            <a:pPr>
              <a:spcAft>
                <a:spcPts val="1000"/>
              </a:spcAft>
              <a:defRPr sz="1800"/>
            </a:pPr>
            <a:r>
              <a:t>The challenge: founders need to assess campaign readiness before committing significant marketing and operational resources.</a:t>
            </a:r>
          </a:p>
          <a:p>
            <a:pPr>
              <a:spcAft>
                <a:spcPts val="1000"/>
              </a:spcAft>
              <a:defRPr sz="1800"/>
            </a:pPr>
            <a:r>
              <a:t>The platform analyses historical campaign patterns and combines them with campaign-level inputs to estimate readiness.</a:t>
            </a:r>
          </a:p>
          <a:p>
            <a:pPr>
              <a:spcAft>
                <a:spcPts val="1000"/>
              </a:spcAft>
              <a:defRPr sz="1800"/>
            </a:pPr>
            <a:r>
              <a:t>The output goes beyond a success/failure label by identifying funding, backer, marketing, reward and risk factors requiring attention.</a:t>
            </a:r>
          </a:p>
          <a:p>
            <a:pPr>
              <a:spcAft>
                <a:spcPts val="1000"/>
              </a:spcAft>
              <a:defRPr sz="1800"/>
            </a:pPr>
            <a:r>
              <a:t>EcoSip is used as the case campaign to demonstrate the general-purpose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ECOSIP — CASE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“Sip Smart. Live Sustainable.”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Startup: EcoSip | Product: Smart reusable temperature-control bottle</a:t>
            </a:r>
          </a:p>
          <a:p>
            <a:pPr>
              <a:spcAft>
                <a:spcPts val="1000"/>
              </a:spcAft>
              <a:defRPr sz="1800"/>
            </a:pPr>
            <a:r>
              <a:t>Industry: Consumer Products / Sustainability / Smart Lifestyle Technology</a:t>
            </a:r>
          </a:p>
          <a:p>
            <a:pPr>
              <a:spcAft>
                <a:spcPts val="1000"/>
              </a:spcAft>
              <a:defRPr sz="1800"/>
            </a:pPr>
            <a:r>
              <a:t>Target customers: Students, young professionals and environmentally conscious consumers</a:t>
            </a:r>
          </a:p>
          <a:p>
            <a:pPr>
              <a:spcAft>
                <a:spcPts val="1000"/>
              </a:spcAft>
              <a:defRPr sz="1800"/>
            </a:pPr>
            <a:r>
              <a:t>Market: India | Crowdfunding model: Reward-Based Crowdfunding</a:t>
            </a:r>
          </a:p>
          <a:p>
            <a:pPr>
              <a:spcAft>
                <a:spcPts val="1000"/>
              </a:spcAft>
              <a:defRPr sz="1800"/>
            </a:pPr>
            <a:r>
              <a:t>Proposed funding goal: ₹10,00,000 | Duration: 30 days | Marketing budget: ₹50,000</a:t>
            </a:r>
          </a:p>
          <a:p>
            <a:pPr>
              <a:spcAft>
                <a:spcPts val="1000"/>
              </a:spcAft>
              <a:defRPr sz="1800"/>
            </a:pPr>
            <a:r>
              <a:t>Proposed rewards: ₹499 Supporter • ₹999 Early Bird • ₹2,499 Standard • ₹4,999 Premium • ₹9,999 Founder Edition</a:t>
            </a:r>
          </a:p>
          <a:p>
            <a:pPr>
              <a:spcAft>
                <a:spcPts val="1000"/>
              </a:spcAft>
              <a:defRPr sz="1800"/>
            </a:pPr>
            <a:r>
              <a:t>Important: EcoSip values are case assumptions created for project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DATA &amp; ANALYTICAL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From historical campaigns to actionable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Synthetic historical dataset: 500 crowdfunding campaigns, clearly labelled as synthetic for project practice.</a:t>
            </a:r>
          </a:p>
          <a:p>
            <a:pPr>
              <a:spcAft>
                <a:spcPts val="1000"/>
              </a:spcAft>
              <a:defRPr sz="1800"/>
            </a:pPr>
            <a:r>
              <a:t>Processed dataset: 500 records, 40 features, no missing values; balanced outcome classes for model development.</a:t>
            </a:r>
          </a:p>
          <a:p>
            <a:pPr>
              <a:spcAft>
                <a:spcPts val="1000"/>
              </a:spcAft>
              <a:defRPr sz="1800"/>
            </a:pPr>
            <a:r>
              <a:t>Key variables: funding goal, amount raised, backers, average contribution, duration, rewards, video/images, story, audience, marketing spend, traffic, conversion and early funding.</a:t>
            </a:r>
          </a:p>
          <a:p>
            <a:pPr>
              <a:spcAft>
                <a:spcPts val="1000"/>
              </a:spcAft>
              <a:defRPr sz="1800"/>
            </a:pPr>
            <a:r>
              <a:t>Core KPIs: success rate, funding %, average contribution, average backers, average duration, conversion and cost per backer.</a:t>
            </a:r>
          </a:p>
          <a:p>
            <a:pPr>
              <a:spcAft>
                <a:spcPts val="1000"/>
              </a:spcAft>
              <a:defRPr sz="1800"/>
            </a:pPr>
            <a:r>
              <a:t>Funding feasibility: Required Backers = Funding Goal ÷ Expected Average Contribution.</a:t>
            </a:r>
          </a:p>
          <a:p>
            <a:pPr>
              <a:spcAft>
                <a:spcPts val="1000"/>
              </a:spcAft>
              <a:defRPr sz="1800"/>
            </a:pPr>
            <a:r>
              <a:t>Traffic feasibility: Required Visitors = Required Backers ÷ Expected Conversion Rate.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CAMPAIGN PERFORMANCE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100-point decision-support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Problem &amp; Product Appeal — 15</a:t>
            </a:r>
          </a:p>
          <a:p>
            <a:pPr>
              <a:spcAft>
                <a:spcPts val="1000"/>
              </a:spcAft>
              <a:defRPr sz="1800"/>
            </a:pPr>
            <a:r>
              <a:t>Funding Goal Feasibility — 15</a:t>
            </a:r>
          </a:p>
          <a:p>
            <a:pPr>
              <a:spcAft>
                <a:spcPts val="1000"/>
              </a:spcAft>
              <a:defRPr sz="1800"/>
            </a:pPr>
            <a:r>
              <a:t>Pre-Launch Audience — 15</a:t>
            </a:r>
          </a:p>
          <a:p>
            <a:pPr>
              <a:spcAft>
                <a:spcPts val="1000"/>
              </a:spcAft>
              <a:defRPr sz="1800"/>
            </a:pPr>
            <a:r>
              <a:t>Campaign Page Quality — 10 | Reward Strategy — 10 | Pricing &amp; Economics — 10</a:t>
            </a:r>
          </a:p>
          <a:p>
            <a:pPr>
              <a:spcAft>
                <a:spcPts val="1000"/>
              </a:spcAft>
              <a:defRPr sz="1800"/>
            </a:pPr>
            <a:r>
              <a:t>Marketing Readiness — 10 | Founder Credibility / Social Proof — 5</a:t>
            </a:r>
          </a:p>
          <a:p>
            <a:pPr>
              <a:spcAft>
                <a:spcPts val="1000"/>
              </a:spcAft>
              <a:defRPr sz="1800"/>
            </a:pPr>
            <a:r>
              <a:t>Early Momentum Plan — 5 | Operational Readiness — 5</a:t>
            </a:r>
          </a:p>
          <a:p>
            <a:pPr>
              <a:spcAft>
                <a:spcPts val="1000"/>
              </a:spcAft>
              <a:defRPr sz="1800"/>
            </a:pPr>
            <a:r>
              <a:t>Classification: 80–100 Strong Readiness | 65–79 Promising | 50–64 Significant Risk | Below 50 Major Rework</a:t>
            </a:r>
          </a:p>
          <a:p>
            <a:pPr>
              <a:spcAft>
                <a:spcPts val="1000"/>
              </a:spcAft>
              <a:defRPr sz="1800"/>
            </a:pPr>
            <a:r>
              <a:t>Scores are educational decision-support categories, not guaranteed probabilities.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AI / MACHINE LEARNING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Random Forest-based campaign success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Target: Campaign Successful = Yes / No.</a:t>
            </a:r>
          </a:p>
          <a:p>
            <a:pPr>
              <a:spcAft>
                <a:spcPts val="1000"/>
              </a:spcAft>
              <a:defRPr sz="1800"/>
            </a:pPr>
            <a:r>
              <a:t>Workflow: Data → Cleaning → Feature Engineering → Train/Test Split → Random Forest → Prediction → Evaluation.</a:t>
            </a:r>
          </a:p>
          <a:p>
            <a:pPr>
              <a:spcAft>
                <a:spcPts val="1000"/>
              </a:spcAft>
              <a:defRPr sz="1800"/>
            </a:pPr>
            <a:r>
              <a:t>Evaluation metrics: Accuracy, Precision, Recall, F1 Score, ROC-AUC and Confusion Matrix.</a:t>
            </a:r>
          </a:p>
          <a:p>
            <a:pPr>
              <a:spcAft>
                <a:spcPts val="1000"/>
              </a:spcAft>
              <a:defRPr sz="1800"/>
            </a:pPr>
            <a:r>
              <a:t>Improved model performance: Accuracy 63% | F1 Score 0.66 | ROC-AUC 0.69.</a:t>
            </a:r>
          </a:p>
          <a:p>
            <a:pPr>
              <a:spcAft>
                <a:spcPts val="1000"/>
              </a:spcAft>
              <a:defRPr sz="1800"/>
            </a:pPr>
            <a:r>
              <a:t>Confusion matrix: Actual Unsuccessful → 27 correct, 23 incorrect; Actual Successful → 36 correct, 14 incorrect.</a:t>
            </a:r>
          </a:p>
          <a:p>
            <a:pPr>
              <a:spcAft>
                <a:spcPts val="1000"/>
              </a:spcAft>
              <a:defRPr sz="1800"/>
            </a:pPr>
            <a:r>
              <a:t>The model is a prototype decision-support tool and not a guaranteed production predictor.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ECOSIP PREDICTION &amp;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Example campaign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EcoSip model inputs included a ₹10 lakh goal, 30-day duration, 5 reward tiers, video, campaign visuals, story length, audience indicators, marketing budget and traffic.</a:t>
            </a:r>
          </a:p>
          <a:p>
            <a:pPr>
              <a:spcAft>
                <a:spcPts val="1000"/>
              </a:spcAft>
              <a:defRPr sz="1800"/>
            </a:pPr>
            <a:r>
              <a:t>Model output: UNSUCCESSFUL</a:t>
            </a:r>
          </a:p>
          <a:p>
            <a:pPr>
              <a:spcAft>
                <a:spcPts val="1000"/>
              </a:spcAft>
              <a:defRPr sz="1800"/>
            </a:pPr>
            <a:r>
              <a:t>Estimated success probability: 47.57%</a:t>
            </a:r>
          </a:p>
          <a:p>
            <a:pPr>
              <a:spcAft>
                <a:spcPts val="1000"/>
              </a:spcAft>
              <a:defRPr sz="1800"/>
            </a:pPr>
            <a:r>
              <a:t>Estimated unsuccessful probability: 52.43%</a:t>
            </a:r>
          </a:p>
          <a:p>
            <a:pPr>
              <a:spcAft>
                <a:spcPts val="1000"/>
              </a:spcAft>
              <a:defRPr sz="1800"/>
            </a:pPr>
            <a:r>
              <a:t>Funding feasibility: ₹10,00,000 ÷ ₹2,500 average contribution = 400 required backers.</a:t>
            </a:r>
          </a:p>
          <a:p>
            <a:pPr>
              <a:spcAft>
                <a:spcPts val="1000"/>
              </a:spcAft>
              <a:defRPr sz="1800"/>
            </a:pPr>
            <a:r>
              <a:t>At an illustrative 3% conversion assumption: approximately 13,333 visitors would be required.</a:t>
            </a:r>
          </a:p>
          <a:p>
            <a:pPr>
              <a:spcAft>
                <a:spcPts val="1000"/>
              </a:spcAft>
              <a:defRPr sz="1800"/>
            </a:pPr>
            <a:r>
              <a:t>Interpretation: improve campaign readiness rather than treating the prediction as a guaranteed outcome.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PLATFORM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Integrated Streamlit decision-support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🔮 Campaign Predictor — enter campaign inputs and obtain an estimated success probability.</a:t>
            </a:r>
          </a:p>
          <a:p>
            <a:pPr>
              <a:spcAft>
                <a:spcPts val="1000"/>
              </a:spcAft>
              <a:defRPr sz="1800"/>
            </a:pPr>
            <a:r>
              <a:t>📊 Historical Dashboard — KPIs, outcomes, categories, countries, duration and funding analysis.</a:t>
            </a:r>
          </a:p>
          <a:p>
            <a:pPr>
              <a:spcAft>
                <a:spcPts val="1000"/>
              </a:spcAft>
              <a:defRPr sz="1800"/>
            </a:pPr>
            <a:r>
              <a:t>💡 Campaign Recommendations — funding feasibility, required backers/visitors and improvement actions.</a:t>
            </a:r>
          </a:p>
          <a:p>
            <a:pPr>
              <a:spcAft>
                <a:spcPts val="1000"/>
              </a:spcAft>
              <a:defRPr sz="1800"/>
            </a:pPr>
            <a:r>
              <a:t>📱 Social Media Readiness — evaluates audience, engagement, email and partner readiness without fabricating metrics.</a:t>
            </a:r>
          </a:p>
          <a:p>
            <a:pPr>
              <a:spcAft>
                <a:spcPts val="1000"/>
              </a:spcAft>
              <a:defRPr sz="1800"/>
            </a:pPr>
            <a:r>
              <a:t>🚀 Final Launch Assessment — combines prediction, funding feasibility, pre-launch, marketing and social readiness.</a:t>
            </a:r>
          </a:p>
          <a:p>
            <a:pPr>
              <a:spcAft>
                <a:spcPts val="1000"/>
              </a:spcAft>
              <a:defRPr sz="1800"/>
            </a:pPr>
            <a:r>
              <a:t>Scenario analysis supports conservative, base and optimistic planning.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VALIDATION, RISKS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What the results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External validation: 11 recent real-world campaigns tested.</a:t>
            </a:r>
          </a:p>
          <a:p>
            <a:pPr>
              <a:spcAft>
                <a:spcPts val="1000"/>
              </a:spcAft>
              <a:defRPr sz="1800"/>
            </a:pPr>
            <a:r>
              <a:t>External validation accuracy: 36%; successful recall 30%; unsuccessful recall 100%; successful precision 100%.</a:t>
            </a:r>
          </a:p>
          <a:p>
            <a:pPr>
              <a:spcAft>
                <a:spcPts val="1000"/>
              </a:spcAft>
              <a:defRPr sz="1800"/>
            </a:pPr>
            <a:r>
              <a:t>Main limitation: the model was trained on synthetic data and several real-world pre-launch variables were unavailable.</a:t>
            </a:r>
          </a:p>
          <a:p>
            <a:pPr>
              <a:spcAft>
                <a:spcPts val="1000"/>
              </a:spcAft>
              <a:defRPr sz="1800"/>
            </a:pPr>
            <a:r>
              <a:t>Some real campaigns had characteristics outside the synthetic training range.</a:t>
            </a:r>
          </a:p>
          <a:p>
            <a:pPr>
              <a:spcAft>
                <a:spcPts val="1000"/>
              </a:spcAft>
              <a:defRPr sz="1800"/>
            </a:pPr>
            <a:r>
              <a:t>Key business risks for EcoSip: low funding, low conversion, production delays, shipping costs, supplier failure, product quality and marketing failure.</a:t>
            </a:r>
          </a:p>
          <a:p>
            <a:pPr>
              <a:spcAft>
                <a:spcPts val="1000"/>
              </a:spcAft>
              <a:defRPr sz="1800"/>
            </a:pPr>
            <a:r>
              <a:t>Therefore, the platform should be treated as a decision-support prototype and improved with representative real-world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FINAL RECOMMENDATION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Decision: Launch After Improvements / Test Further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Strengthen the pre-launch audience and validate audience quality rather than relying only on follower counts.</a:t>
            </a:r>
          </a:p>
          <a:p>
            <a:pPr>
              <a:spcAft>
                <a:spcPts val="1000"/>
              </a:spcAft>
              <a:defRPr sz="1800"/>
            </a:pPr>
            <a:r>
              <a:t>Validate the ₹10 lakh funding goal against realistic contribution levels and traffic capacity.</a:t>
            </a:r>
          </a:p>
          <a:p>
            <a:pPr>
              <a:spcAft>
                <a:spcPts val="1000"/>
              </a:spcAft>
              <a:defRPr sz="1800"/>
            </a:pPr>
            <a:r>
              <a:t>Improve campaign-page quality, conversion assumptions and early-momentum planning.</a:t>
            </a:r>
          </a:p>
          <a:p>
            <a:pPr>
              <a:spcAft>
                <a:spcPts val="1000"/>
              </a:spcAft>
              <a:defRPr sz="1800"/>
            </a:pPr>
            <a:r>
              <a:t>Test reward economics, supplier readiness, production capacity, shipping and customer support.</a:t>
            </a:r>
          </a:p>
          <a:p>
            <a:pPr>
              <a:spcAft>
                <a:spcPts val="1000"/>
              </a:spcAft>
              <a:defRPr sz="1800"/>
            </a:pPr>
            <a:r>
              <a:t>Future scope: real historical data, live campaign monitoring, automated benchmarking, marketing attribution, cohort analysis, A/B testing and advanced models.</a:t>
            </a:r>
          </a:p>
          <a:p>
            <a:pPr>
              <a:spcAft>
                <a:spcPts val="1000"/>
              </a:spcAft>
              <a:defRPr sz="1800"/>
            </a:pPr>
            <a:r>
              <a:t>Key learning: crowdfunding is not only a prediction problem — it is a complete business planning problem involving funding, customers, traffic, conversion, rewards, marketing, economics and risk.</a:t>
            </a:r>
          </a:p>
          <a:p>
            <a:pPr>
              <a:spcAft>
                <a:spcPts val="1000"/>
              </a:spcAft>
              <a:defRPr sz="1800"/>
            </a:pPr>
            <a:r>
              <a:t>Final statement: The platform helps founders identify weaknesses, quantify requirements and improve campaign readiness before launch.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